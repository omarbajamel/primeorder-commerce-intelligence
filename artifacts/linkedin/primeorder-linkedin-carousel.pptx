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932b762e44104" /><Relationship Type="http://schemas.openxmlformats.org/officeDocument/2006/relationships/extended-properties" Target="/docProps/app.xml" Id="R04605c18b1974800" /><Relationship Type="http://schemas.openxmlformats.org/officeDocument/2006/relationships/officeDocument" Target="/ppt/presentation.xml" Id="R75b590d4e01d4d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284ac186c94e1a"/>
  </p:sldMasterIdLst>
  <p:notesMasterIdLst>
    <p:notesMasterId xmlns:r="http://schemas.openxmlformats.org/officeDocument/2006/relationships" r:id="R6911dd74001a4794"/>
  </p:notesMasterIdLst>
  <p:sldIdLst>
    <p:sldId xmlns:r="http://schemas.openxmlformats.org/officeDocument/2006/relationships" id="256" r:id="R08272ed1bdfc45b1"/>
    <p:sldId xmlns:r="http://schemas.openxmlformats.org/officeDocument/2006/relationships" id="257" r:id="R99749a046b984013"/>
    <p:sldId xmlns:r="http://schemas.openxmlformats.org/officeDocument/2006/relationships" id="258" r:id="R8a7ae2510f744ca0"/>
    <p:sldId xmlns:r="http://schemas.openxmlformats.org/officeDocument/2006/relationships" id="259" r:id="Rbc917adf0379490b"/>
    <p:sldId xmlns:r="http://schemas.openxmlformats.org/officeDocument/2006/relationships" id="260" r:id="R86bd7d34c6484bda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a15916945d411e" /><Relationship Type="http://schemas.openxmlformats.org/officeDocument/2006/relationships/slideMaster" Target="/ppt/slideMasters/slideMaster1.xml" Id="Re5284ac186c94e1a" /><Relationship Type="http://schemas.openxmlformats.org/officeDocument/2006/relationships/notesMaster" Target="/ppt/notesMasters/notesMaster1.xml" Id="R6911dd74001a4794" /><Relationship Type="http://schemas.openxmlformats.org/officeDocument/2006/relationships/presProps" Target="/ppt/presProps.xml" Id="R4921c25278b34a65" /><Relationship Type="http://schemas.openxmlformats.org/officeDocument/2006/relationships/tableStyles" Target="/ppt/tableStyles.xml" Id="R10996c5b0b0d4938" /><Relationship Type="http://schemas.openxmlformats.org/officeDocument/2006/relationships/slide" Target="/ppt/slides/slide1.xml" Id="R08272ed1bdfc45b1" /><Relationship Type="http://schemas.openxmlformats.org/officeDocument/2006/relationships/slide" Target="/ppt/slides/slide2.xml" Id="R99749a046b984013" /><Relationship Type="http://schemas.openxmlformats.org/officeDocument/2006/relationships/slide" Target="/ppt/slides/slide3.xml" Id="R8a7ae2510f744ca0" /><Relationship Type="http://schemas.openxmlformats.org/officeDocument/2006/relationships/slide" Target="/ppt/slides/slide4.xml" Id="Rbc917adf0379490b" /><Relationship Type="http://schemas.openxmlformats.org/officeDocument/2006/relationships/slide" Target="/ppt/slides/slide5.xml" Id="R86bd7d34c6484b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9457b1d1d44e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5b44c0e0a748ca" /><Relationship Type="http://schemas.openxmlformats.org/officeDocument/2006/relationships/notesMaster" Target="/ppt/notesMasters/notesMaster1.xml" Id="R766323d0e2234d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32af5ce6fc476a" /><Relationship Type="http://schemas.openxmlformats.org/officeDocument/2006/relationships/notesMaster" Target="/ppt/notesMasters/notesMaster1.xml" Id="R1c9eeb61272e49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38b55ce6d543fc" /><Relationship Type="http://schemas.openxmlformats.org/officeDocument/2006/relationships/notesMaster" Target="/ppt/notesMasters/notesMaster1.xml" Id="R424d192ea89d46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f6ed670a474d66" /><Relationship Type="http://schemas.openxmlformats.org/officeDocument/2006/relationships/notesMaster" Target="/ppt/notesMasters/notesMaster1.xml" Id="R40aaccd137224a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fb5d8f690f4315" /><Relationship Type="http://schemas.openxmlformats.org/officeDocument/2006/relationships/notesMaster" Target="/ppt/notesMasters/notesMaster1.xml" Id="Rc1e88a36d26c45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narrative built from verified project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assets/screenshots/01-executive-overview-desktop.png (synthetic public-demo evidence)</a:t>
            </a:r>
          </a:p>
          <a:p xmlns:a="http://schemas.openxmlformats.org/drawingml/2006/main">
            <a:r>
              <a:t>- docs/testing/TEST_REPORT.md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narrative built from verified project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assets/screenshots/01-executive-overview-desktop.png</a:t>
            </a:r>
          </a:p>
          <a:p xmlns:a="http://schemas.openxmlformats.org/drawingml/2006/main">
            <a:r>
              <a:t>- docs/architecture/KPI_DICTIONARY.md</a:t>
            </a:r>
          </a:p>
          <a:p xmlns:a="http://schemas.openxmlformats.org/drawingml/2006/main">
            <a:r>
              <a:t>- docs/architecture/SOURCE_AUTHORITY_MATRIX.md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narrative built from verified project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assets/screenshots/02-funnel-analysis-desktop.png</a:t>
            </a:r>
          </a:p>
          <a:p xmlns:a="http://schemas.openxmlformats.org/drawingml/2006/main">
            <a:r>
              <a:t>- assets/screenshots/03-product-performance-desktop.png</a:t>
            </a:r>
          </a:p>
          <a:p xmlns:a="http://schemas.openxmlformats.org/drawingml/2006/main">
            <a:r>
              <a:t>- docs/measurement/GA4_MEASUREMENT_SPEC.md</a:t>
            </a:r>
          </a:p>
          <a:p xmlns:a="http://schemas.openxmlformats.org/drawingml/2006/main">
            <a:r>
              <a:t>- docs/testing/TEST_REPORT.md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narrative built from verified project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assets/screenshots/04-data-quality-reconciliation-desktop.png</a:t>
            </a:r>
          </a:p>
          <a:p xmlns:a="http://schemas.openxmlformats.org/drawingml/2006/main">
            <a:r>
              <a:t>- docs/architecture/ARCHITECTURE.md</a:t>
            </a:r>
          </a:p>
          <a:p xmlns:a="http://schemas.openxmlformats.org/drawingml/2006/main">
            <a:r>
              <a:t>- docs/testing/TEST_REPORT.md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narrative built from verified project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docs/testing/TEST_REPORT.md</a:t>
            </a:r>
          </a:p>
          <a:p xmlns:a="http://schemas.openxmlformats.org/drawingml/2006/main">
            <a:r>
              <a:t>- artifacts/evidence/lighthouse-desktop.json</a:t>
            </a:r>
          </a:p>
          <a:p xmlns:a="http://schemas.openxmlformats.org/drawingml/2006/main">
            <a:r>
              <a:t>- artifacts/evidence/screenshot-manifest.json</a:t>
            </a:r>
          </a:p>
          <a:p xmlns:a="http://schemas.openxmlformats.org/drawingml/2006/main">
            <a:r>
              <a:t>- https://omarbajamel.github.io/primeorder-commerce-intelligence/</a:t>
            </a:r>
          </a:p>
          <a:p xmlns:a="http://schemas.openxmlformats.org/drawingml/2006/main">
            <a:r>
              <a:t>- https://github.com/OmarBajamel/primeorder-commerce-intelligence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603ae8dd8049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3d70c192fc4220" /><Relationship Type="http://schemas.openxmlformats.org/officeDocument/2006/relationships/slideLayout" Target="/ppt/slideLayouts/slideLayout1.xml" Id="Rd731935d6a664c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31935d6a664c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1d1069a6c401f" /><Relationship Type="http://schemas.openxmlformats.org/officeDocument/2006/relationships/image" Target="/ppt/media/image.png" Id="R564215caf81245d1" /><Relationship Type="http://schemas.openxmlformats.org/officeDocument/2006/relationships/notesSlide" Target="/ppt/notesSlides/notesSlide1.xml" Id="R73fb0cb7bd1449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c7b186cb54744" /><Relationship Type="http://schemas.openxmlformats.org/officeDocument/2006/relationships/image" Target="/ppt/media/image2.png" Id="Rb3c2c671b02d465c" /><Relationship Type="http://schemas.openxmlformats.org/officeDocument/2006/relationships/notesSlide" Target="/ppt/notesSlides/notesSlide2.xml" Id="Rfd6e00b9772749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e7735958e475c" /><Relationship Type="http://schemas.openxmlformats.org/officeDocument/2006/relationships/image" Target="/ppt/media/image3.png" Id="R984edb0b6d254c5d" /><Relationship Type="http://schemas.openxmlformats.org/officeDocument/2006/relationships/image" Target="/ppt/media/image4.png" Id="Re73a38ec963f4417" /><Relationship Type="http://schemas.openxmlformats.org/officeDocument/2006/relationships/notesSlide" Target="/ppt/notesSlides/notesSlide3.xml" Id="R022f8903ec6b43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810e794b046ff" /><Relationship Type="http://schemas.openxmlformats.org/officeDocument/2006/relationships/image" Target="/ppt/media/image5.png" Id="R84e008fdfcd14434" /><Relationship Type="http://schemas.openxmlformats.org/officeDocument/2006/relationships/notesSlide" Target="/ppt/notesSlides/notesSlide4.xml" Id="Rf1eebebce3d04b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eb30721ed4e52" /><Relationship Type="http://schemas.openxmlformats.org/officeDocument/2006/relationships/notesSlide" Target="/ppt/notesSlides/notesSlide5.xml" Id="R636c7c6dca5648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F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38416-E60F-4260-9A0B-359DB4B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305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B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C3CDA-03BB-4F8C-B304-884DC141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MEASUREMENT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E2C0E-AAB1-48FF-814A-ABB4D82A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7810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Commerce intelligence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you can defend.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75EE4-5C23-482A-B39F-52D3FADC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8D8DB"/>
                </a:solidFill>
              </a:defRPr>
            </a:pPr>
            <a:r>
              <a:rPr sz="2100" b="0">
                <a:solidFill>
                  <a:srgbClr val="C8D8DB"/>
                </a:solidFill>
              </a:rPr>
              <a:t>A privacy-separated, bilingual system for turning source-specific commerce signals into tested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DD0E5-943C-40D2-843F-AD52F2BD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8915400" cy="5572125"/>
          </a:xfrm>
          <a:prstGeom xmlns:a="http://schemas.openxmlformats.org/drawingml/2006/main" prst="roundRect">
            <a:avLst>
              <a:gd name="adj" fmla="val 27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215caf81245d1"/>
          <a:srcRect xmlns:a="http://schemas.openxmlformats.org/drawingml/2006/main" l="0" t="5833" r="0" b="5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5086350"/>
            <a:ext cx="8648700" cy="5305425"/>
          </a:xfrm>
          <a:prstGeom xmlns:a="http://schemas.openxmlformats.org/drawingml/2006/main" prst="roundRect">
            <a:avLst>
              <a:gd name="adj" fmla="val 287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96DD3-9E6C-47BE-9B8E-86EEAB4D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21526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B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7FEF6-80CE-4173-938A-9DA226E6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9728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9 DASHBOARD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BDE9E-38B2-4E50-952B-4588BD60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0839450"/>
            <a:ext cx="21526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3158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47147-5B3B-48E5-91EA-A1E20162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972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FE1D8"/>
                </a:solidFill>
              </a:defRPr>
            </a:pPr>
            <a:r>
              <a:rPr sz="1200" b="1">
                <a:solidFill>
                  <a:srgbClr val="7FE1D8"/>
                </a:solidFill>
              </a:rPr>
              <a:t>ENGLISH + AR/RTL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BF167-6BF4-4CFC-9972-FD9B44F4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09728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Omar Ba Jamel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863C1-556A-4220-A006-E0EE2E4C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68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C0C5"/>
                </a:solidFill>
              </a:defRPr>
            </a:pPr>
            <a:r>
              <a:rPr sz="975" b="1">
                <a:solidFill>
                  <a:srgbClr val="A8C0C5"/>
                </a:solidFill>
              </a:rPr>
              <a:t>PRIMEORDER COMMERCE 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698E0-871C-437D-9A0A-55BD4CCF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2205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E1D8"/>
                </a:solidFill>
              </a:defRPr>
            </a:pPr>
            <a:r>
              <a:rPr sz="1350" b="1">
                <a:solidFill>
                  <a:srgbClr val="7FE1D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912214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EA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45FD6-518F-4218-91E0-137A1594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305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1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C1AAD-84A6-4457-A64F-45CEB53D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01 | KPI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CB6F4-D01D-4297-9C61-E094035F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00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61F29"/>
                </a:solidFill>
              </a:defRPr>
            </a:pPr>
            <a:r>
              <a:rPr sz="4350" b="1">
                <a:solidFill>
                  <a:srgbClr val="061F29"/>
                </a:solidFill>
              </a:rPr>
              <a:t>Define ownership</a:t>
            </a:r>
          </a:p>
          <a:p xmlns:a="http://schemas.openxmlformats.org/drawingml/2006/main">
            <a:pPr>
              <a:defRPr sz="4350" b="1">
                <a:solidFill>
                  <a:srgbClr val="061F29"/>
                </a:solidFill>
              </a:defRPr>
            </a:pPr>
            <a:r>
              <a:rPr sz="4350" b="1">
                <a:solidFill>
                  <a:srgbClr val="061F29"/>
                </a:solidFill>
              </a:rPr>
              <a:t>before calculating.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2c671b02d465c"/>
          <a:srcRect xmlns:a="http://schemas.openxmlformats.org/drawingml/2006/main" l="23821" t="0" r="238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295650"/>
            <a:ext cx="5429250" cy="7200900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92C00-257C-484C-8BD0-65818826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31813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73531-A333-4DE9-812D-D1259BAC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A8B80"/>
                </a:solidFill>
              </a:defRPr>
            </a:pPr>
            <a:r>
              <a:rPr sz="1275" b="1">
                <a:solidFill>
                  <a:srgbClr val="0A8B80"/>
                </a:solidFill>
              </a:rPr>
              <a:t>COMMERCE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2B2F1-8695-4E80-A27E-BB331249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2609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F39"/>
                </a:solidFill>
              </a:defRPr>
            </a:pPr>
            <a:r>
              <a:rPr sz="1650" b="1">
                <a:solidFill>
                  <a:srgbClr val="102F39"/>
                </a:solidFill>
              </a:rPr>
              <a:t>Completed orders, revenue, refunds and cost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93E9E-D760-4865-98E3-47E947FB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57800"/>
            <a:ext cx="31813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599E3-E878-4DF9-BBD2-55D63D41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054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A8B80"/>
                </a:solidFill>
              </a:defRPr>
            </a:pPr>
            <a:r>
              <a:rPr sz="1275" b="1">
                <a:solidFill>
                  <a:srgbClr val="0A8B80"/>
                </a:solidFill>
              </a:rPr>
              <a:t>GA4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227C3-7816-4AF2-A75D-1C8F62DB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43600"/>
            <a:ext cx="2609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F39"/>
                </a:solidFill>
              </a:defRPr>
            </a:pPr>
            <a:r>
              <a:rPr sz="1650" b="0">
                <a:solidFill>
                  <a:srgbClr val="102F39"/>
                </a:solidFill>
              </a:rPr>
              <a:t>Sessions, funnel behavior and tracked purchases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9EADB-0F0E-451F-9703-7E49FB40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7219950"/>
            <a:ext cx="31813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36F5B-1BF4-42CE-B42C-C6FB3EEB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4676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A8B80"/>
                </a:solidFill>
              </a:defRPr>
            </a:pPr>
            <a:r>
              <a:rPr sz="1275" b="1">
                <a:solidFill>
                  <a:srgbClr val="0A8B80"/>
                </a:solidFill>
              </a:rPr>
              <a:t>DIAGNOSTIC 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BDCBD-12C6-4E9D-9255-FE56D1D1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905750"/>
            <a:ext cx="2609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F39"/>
                </a:solidFill>
              </a:defRPr>
            </a:pPr>
            <a:r>
              <a:rPr sz="1650" b="0">
                <a:solidFill>
                  <a:srgbClr val="102F39"/>
                </a:solidFill>
              </a:rPr>
              <a:t>Ads, search, merchant health and Clarity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56A85-02E8-4E04-8BD5-F6DF0F39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9363075"/>
            <a:ext cx="318135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061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00F67-359D-4348-BADB-1526246A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572625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dashboard shows variance and uncertainty - it does not hide them.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42337-A031-4D96-9954-C2CF969C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01375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F39"/>
                </a:solidFill>
              </a:defRPr>
            </a:pPr>
            <a:r>
              <a:rPr sz="2100" b="1">
                <a:solidFill>
                  <a:srgbClr val="102F39"/>
                </a:solidFill>
              </a:rPr>
              <a:t>One business. Distinct measurement responsibilities.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CA7AA-0A50-4517-8A43-E1D74B51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68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D747B"/>
                </a:solidFill>
              </a:defRPr>
            </a:pPr>
            <a:r>
              <a:rPr sz="975" b="1">
                <a:solidFill>
                  <a:srgbClr val="5D747B"/>
                </a:solidFill>
              </a:rPr>
              <a:t>PRIMEORDER COMMERCE INTELLIGENCE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DF8EA-99E3-493F-98F2-DAB6A37F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2205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8B80"/>
                </a:solidFill>
              </a:defRPr>
            </a:pPr>
            <a:r>
              <a:rPr sz="1350" b="1">
                <a:solidFill>
                  <a:srgbClr val="0A8B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1050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F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46C64-6975-4747-8E00-3E95F9D5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305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B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AC9BB-DD94-44E5-933B-0AA83F5D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02 | BEHAVIOR TO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FB9A0-46A3-457C-8B5E-8D494E2B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Connect event quality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to product decisions.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edb0b6d254c5d"/>
          <a:srcRect xmlns:a="http://schemas.openxmlformats.org/drawingml/2006/main" l="0" t="7169" r="0" b="7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333750"/>
            <a:ext cx="5572125" cy="3314700"/>
          </a:xfrm>
          <a:prstGeom xmlns:a="http://schemas.openxmlformats.org/drawingml/2006/main" prst="roundRect">
            <a:avLst>
              <a:gd name="adj" fmla="val 4598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a38ec963f4417"/>
          <a:srcRect xmlns:a="http://schemas.openxmlformats.org/drawingml/2006/main" l="0" t="7169" r="0" b="7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953250"/>
            <a:ext cx="5572125" cy="3314700"/>
          </a:xfrm>
          <a:prstGeom xmlns:a="http://schemas.openxmlformats.org/drawingml/2006/main" prst="roundRect">
            <a:avLst>
              <a:gd name="adj" fmla="val 459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86AAC-2BC4-45D1-958D-1F16E93D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E49C7-9A8F-47E1-B843-561FE9CD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365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8511D-F7D7-47A5-8EA2-E5BECBA0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576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days of deterministic synthetic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9D69F-2A46-408F-9640-FFBBD197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F2BBE-A374-43E2-867B-DED7225A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67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2718D-5E33-46DC-87D6-067AAF92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5816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specified ecommerce 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D76D2-BFB1-450E-867A-4E6A5167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3817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84C39-9ECF-4202-AA4F-2FBD4F90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591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B0D98-74E1-42C4-A2F7-68E1B5AA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1056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products with category reconciliation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F3866-D754-42F7-9FB6-BEB29AFA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8096250"/>
            <a:ext cx="3048000" cy="21717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0A8B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79A96-C4A9-4AF5-9007-30F74EF2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401050"/>
            <a:ext cx="252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Reproducible by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DBDCF-D75E-4A83-8877-4DF64CA4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9048750"/>
            <a:ext cx="2524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Fixed seed 20250301 keeps analysis, tests and screenshots aligned across the public release.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D3822-1C50-4F74-BC36-8B79F6DE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06125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E1D8"/>
                </a:solidFill>
              </a:defRPr>
            </a:pPr>
            <a:r>
              <a:rPr sz="2100" b="1">
                <a:solidFill>
                  <a:srgbClr val="7FE1D8"/>
                </a:solidFill>
              </a:rPr>
              <a:t>Funnel evidence only becomes useful when its tracking contract is testable.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4011DC-83AD-4464-BBCD-5B637680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68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C0C5"/>
                </a:solidFill>
              </a:defRPr>
            </a:pPr>
            <a:r>
              <a:rPr sz="975" b="1">
                <a:solidFill>
                  <a:srgbClr val="A8C0C5"/>
                </a:solidFill>
              </a:rPr>
              <a:t>PRIMEORDER COMMERCE INTELLIGENCE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B6769F-049B-44BF-A2B9-2FEC8B89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2205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E1D8"/>
                </a:solidFill>
              </a:defRPr>
            </a:pPr>
            <a:r>
              <a:rPr sz="1350" b="1">
                <a:solidFill>
                  <a:srgbClr val="7FE1D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50062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EA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FA0DFC-B757-4162-BEDF-852FC63C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305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1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019B3-AB8B-4919-9040-CA0EEAF5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 | QUALITY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953E3-FFE7-45A4-93F3-2AE04B19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61F29"/>
                </a:solidFill>
              </a:defRPr>
            </a:pPr>
            <a:r>
              <a:rPr sz="4350" b="1">
                <a:solidFill>
                  <a:srgbClr val="061F29"/>
                </a:solidFill>
              </a:rPr>
              <a:t>Make uncertainty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8EF80-3C95-4632-8BB6-73DBA7B1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D747B"/>
                </a:solidFill>
              </a:defRPr>
            </a:pPr>
            <a:r>
              <a:rPr sz="1950" b="0">
                <a:solidFill>
                  <a:srgbClr val="5D747B"/>
                </a:solidFill>
              </a:rPr>
              <a:t>Quality, reconciliation and consent are part of the product - not appendix work.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008fdfcd14434"/>
          <a:srcRect xmlns:a="http://schemas.openxmlformats.org/drawingml/2006/main" l="0" t="13846" r="0" b="138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333750"/>
            <a:ext cx="89154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F776C-6AF9-437A-A419-DF27E0CF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34375"/>
            <a:ext cx="17716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61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BD992-9463-4D5C-B9AE-AD8A5727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6201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6 READ-ONLY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CONNECTORS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95DC5-13C8-4B3C-8A30-145B33B2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868680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8B80"/>
          </a:solidFill>
          <a:ln xmlns:a="http://schemas.openxmlformats.org/drawingml/2006/main" w="0">
            <a:solidFill>
              <a:srgbClr val="0A8B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ED651-2721-4451-B625-23AEF8A9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8334375"/>
            <a:ext cx="17716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A8B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61F7B-8FBA-4233-8F4A-0E76CA93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6201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DUCKDB + DBT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SEMANTICS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B62A4-3215-4915-B65E-3C90E5A5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868680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8B80"/>
          </a:solidFill>
          <a:ln xmlns:a="http://schemas.openxmlformats.org/drawingml/2006/main" w="0">
            <a:solidFill>
              <a:srgbClr val="0A8B8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691B8-59AA-4729-9A44-04AFADB8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8334375"/>
            <a:ext cx="17716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61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41208-5974-4C7B-B889-E32F8577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6201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FASTAPI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READ-ONLY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25347-A7F1-4594-9F4F-DC259CB9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868680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8B80"/>
          </a:solidFill>
          <a:ln xmlns:a="http://schemas.openxmlformats.org/drawingml/2006/main" w="0">
            <a:solidFill>
              <a:srgbClr val="0A8B8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AEFD2-63FC-44C4-BBFB-0D3CDCE7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334375"/>
            <a:ext cx="17716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61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61F44-C79A-461D-93E5-F8321852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86201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STATIC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2C0E7-1FDF-468D-A8AA-7FDE97B0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86950"/>
            <a:ext cx="26860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24DA1-2CCF-4921-991A-0542EA2A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A8B80"/>
                </a:solidFill>
              </a:defRPr>
            </a:pPr>
            <a:r>
              <a:rPr sz="2550" b="1">
                <a:solidFill>
                  <a:srgbClr val="0A8B80"/>
                </a:solidFill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DB309-7610-4B62-B1EE-8DAB8FEB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108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F39"/>
                </a:solidFill>
              </a:defRPr>
            </a:pPr>
            <a:r>
              <a:rPr sz="1200" b="0">
                <a:solidFill>
                  <a:srgbClr val="102F39"/>
                </a:solidFill>
              </a:rPr>
              <a:t>intentional anomaly classes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4CDB83-76A2-4137-BF44-F2DFADC2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9886950"/>
            <a:ext cx="26860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E92F2-9BB8-4F58-BAE6-E30EB0FA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009650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A8B80"/>
                </a:solidFill>
              </a:defRPr>
            </a:pPr>
            <a:r>
              <a:rPr sz="2550" b="1">
                <a:solidFill>
                  <a:srgbClr val="0A8B80"/>
                </a:solidFill>
              </a:rPr>
              <a:t>28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AED2E-C6DB-44E6-BC88-43C9AE66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06108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F39"/>
                </a:solidFill>
              </a:defRPr>
            </a:pPr>
            <a:r>
              <a:rPr sz="1200" b="0">
                <a:solidFill>
                  <a:srgbClr val="102F39"/>
                </a:solidFill>
              </a:rPr>
              <a:t>dbt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FC71C8-113C-43B9-96F0-FD4B7CCB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9886950"/>
            <a:ext cx="2952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A68372-5330-4026-A748-62FB7E9F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00965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A8B80"/>
                </a:solidFill>
              </a:defRPr>
            </a:pPr>
            <a:r>
              <a:rPr sz="2550" b="1">
                <a:solidFill>
                  <a:srgbClr val="0A8B80"/>
                </a:solidFill>
              </a:rPr>
              <a:t>78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A52A6-298E-45A6-9909-669951EA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0610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F39"/>
                </a:solidFill>
              </a:defRPr>
            </a:pPr>
            <a:r>
              <a:rPr sz="1200" b="0">
                <a:solidFill>
                  <a:srgbClr val="102F39"/>
                </a:solidFill>
              </a:rPr>
              <a:t>data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3AD57B-C274-471F-AA31-CB721E63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68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D747B"/>
                </a:solidFill>
              </a:defRPr>
            </a:pPr>
            <a:r>
              <a:rPr sz="975" b="1">
                <a:solidFill>
                  <a:srgbClr val="5D747B"/>
                </a:solidFill>
              </a:rPr>
              <a:t>PRIMEORDER COMMERCE INTELLIGENCE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9C63B6-29F4-4F73-A453-27E97CAC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2205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8B80"/>
                </a:solidFill>
              </a:defRPr>
            </a:pPr>
            <a:r>
              <a:rPr sz="1350" b="1">
                <a:solidFill>
                  <a:srgbClr val="0A8B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75302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F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06CA64-9C95-4792-8099-4F87E664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305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B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82C49-8AA2-4243-91C6-4AC77E5B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04 | RELEASE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743B4-8C2B-4C4B-8225-0BDE370F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191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Ship evidence,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not uplift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8AAA5-30A9-400F-B4E5-C19193A3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FD1D5"/>
                </a:solidFill>
              </a:defRPr>
            </a:pPr>
            <a:r>
              <a:rPr sz="1875" b="0">
                <a:solidFill>
                  <a:srgbClr val="BFD1D5"/>
                </a:solidFill>
              </a:rPr>
              <a:t>Every headline below was executed against the release candidate.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27871-CF9A-4E9E-87BD-36C893DC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191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BAEAC-16D8-45CB-92F9-9641370C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117/117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9B32A-DB49-461C-997B-7B13BC38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dbt nodes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DAB51-3A1F-4FBC-A86B-E8A2D749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48125"/>
            <a:ext cx="4191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45596-767D-481C-87B3-1D384A16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5767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E52FD-F2B4-47CC-B111-997BAAB6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720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Python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95FE2-B502-4A17-B141-612AF954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4191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D6734-EACD-43BB-8788-4E283C94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8167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6B3E6-463B-4DE2-B599-74102029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960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frontend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A6739-FBA3-48A6-9149-2EE41DA3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572125"/>
            <a:ext cx="4191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46B5E-ADB6-469D-9F84-080F5519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78167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0B68F-92D3-460E-BC4B-1B728980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2960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browser + a11y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E7DA5-E8E7-400D-A43E-6D670384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96125"/>
            <a:ext cx="4191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A7857-6305-452F-8784-830F913B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0567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3032E-3788-4E14-8F24-F3009B07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200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privacy-reviewed screens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D9EE5-C64E-4616-870C-EE548049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7096125"/>
            <a:ext cx="4191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D387F-0396-4DA7-AB4D-8E9B205C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730567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85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711810-7B19-409F-8F44-2CA627E9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78200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desktop performance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FC9BC6-7373-4031-B1D5-4053253F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72550"/>
            <a:ext cx="89154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6281F7-D653-42AE-9682-A0431554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2964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61F29"/>
                </a:solidFill>
              </a:defRPr>
            </a:pPr>
            <a:r>
              <a:rPr sz="2325" b="1">
                <a:solidFill>
                  <a:srgbClr val="061F29"/>
                </a:solidFill>
              </a:rPr>
              <a:t>Explore the public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4261FA-E511-41AE-8D32-1399F160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9155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A8B80"/>
                </a:solidFill>
              </a:defRPr>
            </a:pPr>
            <a:r>
              <a:rPr sz="1200" b="1">
                <a:solidFill>
                  <a:srgbClr val="0A8B80"/>
                </a:solidFill>
              </a:rPr>
              <a:t>Live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68C663-FFDC-4E9B-A893-8F3414C6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989647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F39"/>
                </a:solidFill>
              </a:defRPr>
            </a:pPr>
            <a:r>
              <a:rPr sz="1350" b="0">
                <a:solidFill>
                  <a:srgbClr val="102F39"/>
                </a:solidFill>
              </a:rPr>
              <a:t>omarbajamel.github.io/primeorder-commerce-intelligence/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3F29F3-7D07-438C-BD10-24E4FB3D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382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A8B80"/>
                </a:solidFill>
              </a:defRPr>
            </a:pPr>
            <a:r>
              <a:rPr sz="1200" b="1">
                <a:solidFill>
                  <a:srgbClr val="0A8B80"/>
                </a:solidFill>
              </a:rPr>
              <a:t>GitHub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691BDE-1CF4-4ED1-8577-D201589B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03632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F39"/>
                </a:solidFill>
              </a:defRPr>
            </a:pPr>
            <a:r>
              <a:rPr sz="1350" b="0">
                <a:solidFill>
                  <a:srgbClr val="102F39"/>
                </a:solidFill>
              </a:rPr>
              <a:t>github.com/OmarBajamel/primeorder-commerce-intelligence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3A3AD3-1064-4FCD-B641-C799609A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681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FE1D8"/>
                </a:solidFill>
              </a:defRPr>
            </a:pPr>
            <a:r>
              <a:rPr sz="1650" b="1">
                <a:solidFill>
                  <a:srgbClr val="7FE1D8"/>
                </a:solidFill>
              </a:rPr>
              <a:t>Synthetic public data only. No commercial uplift claimed.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A07A32-B860-4D8F-97EC-8EECBC56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68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C0C5"/>
                </a:solidFill>
              </a:defRPr>
            </a:pPr>
            <a:r>
              <a:rPr sz="975" b="1">
                <a:solidFill>
                  <a:srgbClr val="A8C0C5"/>
                </a:solidFill>
              </a:rPr>
              <a:t>PRIMEORDER COMMERCE INTELLIGENCE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3FA7E1-1A20-4F73-96F8-4A726D2B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2205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E1D8"/>
                </a:solidFill>
              </a:defRPr>
            </a:pPr>
            <a:r>
              <a:rPr sz="1350" b="1">
                <a:solidFill>
                  <a:srgbClr val="7FE1D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9798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2026-08-28T18:11:26.0300000Z</dcterms:created>
  <dcterms:modified xsi:type="dcterms:W3CDTF">2026-08-28T18:11:26.0310000Z</dcterms:modified>
</coreProperties>
</file>