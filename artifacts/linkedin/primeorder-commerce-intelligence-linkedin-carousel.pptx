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9e44f35cd249b1" /><Relationship Type="http://schemas.openxmlformats.org/officeDocument/2006/relationships/extended-properties" Target="/docProps/app.xml" Id="Ra8208c43500840e4" /><Relationship Type="http://schemas.openxmlformats.org/officeDocument/2006/relationships/officeDocument" Target="/ppt/presentation.xml" Id="R04599da6c14140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c2597009d64e3b"/>
  </p:sldMasterIdLst>
  <p:notesMasterIdLst>
    <p:notesMasterId xmlns:r="http://schemas.openxmlformats.org/officeDocument/2006/relationships" r:id="Rcb94a036e7144064"/>
  </p:notesMasterIdLst>
  <p:sldIdLst>
    <p:sldId xmlns:r="http://schemas.openxmlformats.org/officeDocument/2006/relationships" id="256" r:id="Rff7010f607ea4ff2"/>
    <p:sldId xmlns:r="http://schemas.openxmlformats.org/officeDocument/2006/relationships" id="257" r:id="R9927ef8a6abd48fd"/>
    <p:sldId xmlns:r="http://schemas.openxmlformats.org/officeDocument/2006/relationships" id="258" r:id="Re67c9394f6704604"/>
    <p:sldId xmlns:r="http://schemas.openxmlformats.org/officeDocument/2006/relationships" id="259" r:id="R162596d8d97c464f"/>
    <p:sldId xmlns:r="http://schemas.openxmlformats.org/officeDocument/2006/relationships" id="260" r:id="R4576b58c1edb4a11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8b679fdbd74f5a" /><Relationship Type="http://schemas.openxmlformats.org/officeDocument/2006/relationships/slideMaster" Target="/ppt/slideMasters/slideMaster1.xml" Id="R34c2597009d64e3b" /><Relationship Type="http://schemas.openxmlformats.org/officeDocument/2006/relationships/notesMaster" Target="/ppt/notesMasters/notesMaster1.xml" Id="Rcb94a036e7144064" /><Relationship Type="http://schemas.openxmlformats.org/officeDocument/2006/relationships/presProps" Target="/ppt/presProps.xml" Id="R5460060e67c143cc" /><Relationship Type="http://schemas.openxmlformats.org/officeDocument/2006/relationships/tableStyles" Target="/ppt/tableStyles.xml" Id="R99ce568851094c64" /><Relationship Type="http://schemas.openxmlformats.org/officeDocument/2006/relationships/slide" Target="/ppt/slides/slide1.xml" Id="Rff7010f607ea4ff2" /><Relationship Type="http://schemas.openxmlformats.org/officeDocument/2006/relationships/slide" Target="/ppt/slides/slide2.xml" Id="R9927ef8a6abd48fd" /><Relationship Type="http://schemas.openxmlformats.org/officeDocument/2006/relationships/slide" Target="/ppt/slides/slide3.xml" Id="Re67c9394f6704604" /><Relationship Type="http://schemas.openxmlformats.org/officeDocument/2006/relationships/slide" Target="/ppt/slides/slide4.xml" Id="R162596d8d97c464f" /><Relationship Type="http://schemas.openxmlformats.org/officeDocument/2006/relationships/slide" Target="/ppt/slides/slide5.xml" Id="R4576b58c1edb4a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c2e0b0429c45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79cc4af59d4753" /><Relationship Type="http://schemas.openxmlformats.org/officeDocument/2006/relationships/notesMaster" Target="/ppt/notesMasters/notesMaster1.xml" Id="R0fa5be4eb0b144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895a75cfba48da" /><Relationship Type="http://schemas.openxmlformats.org/officeDocument/2006/relationships/notesMaster" Target="/ppt/notesMasters/notesMaster1.xml" Id="R064d6148c26842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e4467c276a47af" /><Relationship Type="http://schemas.openxmlformats.org/officeDocument/2006/relationships/notesMaster" Target="/ppt/notesMasters/notesMaster1.xml" Id="R74ee103a2e9c46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203056bb424e35" /><Relationship Type="http://schemas.openxmlformats.org/officeDocument/2006/relationships/notesMaster" Target="/ppt/notesMasters/notesMaster1.xml" Id="R700934d799c044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632d15d1374e9a" /><Relationship Type="http://schemas.openxmlformats.org/officeDocument/2006/relationships/notesMaster" Target="/ppt/notesMasters/notesMaster1.xml" Id="R0712b9242a1340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narrative built from verified project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assets/screenshots/01-executive-overview-desktop.png (synthetic public-demo evidence)</a:t>
            </a:r>
          </a:p>
          <a:p xmlns:a="http://schemas.openxmlformats.org/drawingml/2006/main">
            <a:r>
              <a:t>- docs/testing/TEST_REPORT.md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narrative built from verified project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assets/screenshots/01-executive-overview-desktop.png</a:t>
            </a:r>
          </a:p>
          <a:p xmlns:a="http://schemas.openxmlformats.org/drawingml/2006/main">
            <a:r>
              <a:t>- docs/architecture/KPI_DICTIONARY.md</a:t>
            </a:r>
          </a:p>
          <a:p xmlns:a="http://schemas.openxmlformats.org/drawingml/2006/main">
            <a:r>
              <a:t>- docs/architecture/SOURCE_AUTHORITY_MATRIX.md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narrative built from verified project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assets/screenshots/02-funnel-analysis-desktop.png</a:t>
            </a:r>
          </a:p>
          <a:p xmlns:a="http://schemas.openxmlformats.org/drawingml/2006/main">
            <a:r>
              <a:t>- assets/screenshots/03-product-performance-desktop.png</a:t>
            </a:r>
          </a:p>
          <a:p xmlns:a="http://schemas.openxmlformats.org/drawingml/2006/main">
            <a:r>
              <a:t>- docs/measurement/GA4_MEASUREMENT_SPEC.md</a:t>
            </a:r>
          </a:p>
          <a:p xmlns:a="http://schemas.openxmlformats.org/drawingml/2006/main">
            <a:r>
              <a:t>- docs/testing/TEST_REPORT.md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narrative built from verified project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assets/screenshots/04-data-quality-reconciliation-desktop.png</a:t>
            </a:r>
          </a:p>
          <a:p xmlns:a="http://schemas.openxmlformats.org/drawingml/2006/main">
            <a:r>
              <a:t>- docs/architecture/ARCHITECTURE.md</a:t>
            </a:r>
          </a:p>
          <a:p xmlns:a="http://schemas.openxmlformats.org/drawingml/2006/main">
            <a:r>
              <a:t>- docs/testing/TEST_REPORT.md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narrative built from verified project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docs/testing/TEST_REPORT.md</a:t>
            </a:r>
          </a:p>
          <a:p xmlns:a="http://schemas.openxmlformats.org/drawingml/2006/main">
            <a:r>
              <a:t>- artifacts/evidence/lighthouse-desktop.json</a:t>
            </a:r>
          </a:p>
          <a:p xmlns:a="http://schemas.openxmlformats.org/drawingml/2006/main">
            <a:r>
              <a:t>- artifacts/evidence/screenshot-manifest.json</a:t>
            </a:r>
          </a:p>
          <a:p xmlns:a="http://schemas.openxmlformats.org/drawingml/2006/main">
            <a:r>
              <a:t>- https://omarbajamel.github.io/primeorder-commerce-intelligence/</a:t>
            </a:r>
          </a:p>
          <a:p xmlns:a="http://schemas.openxmlformats.org/drawingml/2006/main">
            <a:r>
              <a:t>- https://github.com/OmarBajamel/primeorder-commerce-intelligence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bd179c39da44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e7254bf85e4d7a" /><Relationship Type="http://schemas.openxmlformats.org/officeDocument/2006/relationships/slideLayout" Target="/ppt/slideLayouts/slideLayout1.xml" Id="R0832406d143c4b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32406d143c4b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d28fc47464b86" /><Relationship Type="http://schemas.openxmlformats.org/officeDocument/2006/relationships/image" Target="/ppt/media/image.png" Id="R324ac0149f1b4103" /><Relationship Type="http://schemas.openxmlformats.org/officeDocument/2006/relationships/notesSlide" Target="/ppt/notesSlides/notesSlide1.xml" Id="R790bb5dbaecd4d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5996735974ee3" /><Relationship Type="http://schemas.openxmlformats.org/officeDocument/2006/relationships/image" Target="/ppt/media/image2.png" Id="R7140724f33ac4c25" /><Relationship Type="http://schemas.openxmlformats.org/officeDocument/2006/relationships/notesSlide" Target="/ppt/notesSlides/notesSlide2.xml" Id="R22aa83a2aac044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e122b31bd4900" /><Relationship Type="http://schemas.openxmlformats.org/officeDocument/2006/relationships/image" Target="/ppt/media/image3.png" Id="Raa3e11f3f6a74472" /><Relationship Type="http://schemas.openxmlformats.org/officeDocument/2006/relationships/image" Target="/ppt/media/image4.png" Id="R1ae93f83479b4df7" /><Relationship Type="http://schemas.openxmlformats.org/officeDocument/2006/relationships/notesSlide" Target="/ppt/notesSlides/notesSlide3.xml" Id="R6fada78c52a744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9c830d6b84f90" /><Relationship Type="http://schemas.openxmlformats.org/officeDocument/2006/relationships/image" Target="/ppt/media/image5.png" Id="Re5d2818269b24f0a" /><Relationship Type="http://schemas.openxmlformats.org/officeDocument/2006/relationships/notesSlide" Target="/ppt/notesSlides/notesSlide4.xml" Id="Ra13666ee3ec142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eb1f4d56e47c0" /><Relationship Type="http://schemas.openxmlformats.org/officeDocument/2006/relationships/notesSlide" Target="/ppt/notesSlides/notesSlide5.xml" Id="Ra1a777c7d1ff44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F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34F4B3-E56B-45B0-B48F-4766B9D4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305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B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1E521-DFE8-4EE9-B5FB-31EEA42F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953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MEASUREMENT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5ADA0-43EA-421C-8503-AC5B9EB2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7810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Commerce intelligence</a:t>
            </a:r>
          </a:p>
          <a:p xmlns:a="http://schemas.openxmlformats.org/drawingml/2006/main">
            <a:pPr>
              <a:defRPr sz="5250" b="1">
                <a:solidFill>
                  <a:srgbClr val="FFFFFF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you can defend.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F2568-E205-4806-B808-9B861029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800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8D8DB"/>
                </a:solidFill>
              </a:defRPr>
            </a:pPr>
            <a:r>
              <a:rPr sz="2100" b="0">
                <a:solidFill>
                  <a:srgbClr val="C8D8DB"/>
                </a:solidFill>
              </a:rPr>
              <a:t>A privacy-separated, bilingual system for turning source-specific commerce signals into tested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E3D47-838B-4616-833B-011F2763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8915400" cy="5572125"/>
          </a:xfrm>
          <a:prstGeom xmlns:a="http://schemas.openxmlformats.org/drawingml/2006/main" prst="roundRect">
            <a:avLst>
              <a:gd name="adj" fmla="val 27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4ac0149f1b4103"/>
          <a:srcRect xmlns:a="http://schemas.openxmlformats.org/drawingml/2006/main" l="0" t="5833" r="0" b="58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5086350"/>
            <a:ext cx="8648700" cy="5305425"/>
          </a:xfrm>
          <a:prstGeom xmlns:a="http://schemas.openxmlformats.org/drawingml/2006/main" prst="roundRect">
            <a:avLst>
              <a:gd name="adj" fmla="val 287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A9109-0C23-4A27-9BDD-00234306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39450"/>
            <a:ext cx="215265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B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23FD1D-E5C4-47F3-8473-CD56C2B8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9728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9 DASHBOARD ROUTES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8830C-2E8F-4AEA-966D-49E3A20F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0839450"/>
            <a:ext cx="215265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303B"/>
          </a:solidFill>
          <a:ln xmlns:a="http://schemas.openxmlformats.org/drawingml/2006/main" w="9525">
            <a:solidFill>
              <a:srgbClr val="3158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5783F-02B3-4820-9A4C-788D475D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0972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FE1D8"/>
                </a:solidFill>
              </a:defRPr>
            </a:pPr>
            <a:r>
              <a:rPr sz="1200" b="1">
                <a:solidFill>
                  <a:srgbClr val="7FE1D8"/>
                </a:solidFill>
              </a:rPr>
              <a:t>ENGLISH + AR/RTL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863CC-593E-4538-B578-9A354812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09728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Omar Ba Jamel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80467E-8400-43F8-A3D3-D08EE34F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68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8C0C5"/>
                </a:solidFill>
              </a:defRPr>
            </a:pPr>
            <a:r>
              <a:rPr sz="975" b="1">
                <a:solidFill>
                  <a:srgbClr val="A8C0C5"/>
                </a:solidFill>
              </a:rPr>
              <a:t>PRIMEORDER COMMERCE INTELLIGENCE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C4747-0DD2-4F3D-A99C-CE0AFCC4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22682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8C0C5"/>
                </a:solidFill>
              </a:defRPr>
            </a:pPr>
            <a:r>
              <a:rPr sz="975" b="1">
                <a:solidFill>
                  <a:srgbClr val="A8C0C5"/>
                </a:solidFill>
              </a:rPr>
              <a:t>OMAR BA JAMEL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81851C-7977-43E2-934C-6CD8B05C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222057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E1D8"/>
                </a:solidFill>
              </a:defRPr>
            </a:pPr>
            <a:r>
              <a:rPr sz="1350" b="1">
                <a:solidFill>
                  <a:srgbClr val="7FE1D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766471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EAD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F69420-972C-42CD-98C6-D6C425C2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305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1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F1CD7-33E8-4151-A9F1-8DC9BFA6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953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01 | KPI AUTHORITY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A3526-86C2-4E3D-A8AA-3F444730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001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61F29"/>
                </a:solidFill>
              </a:defRPr>
            </a:pPr>
            <a:r>
              <a:rPr sz="4350" b="1">
                <a:solidFill>
                  <a:srgbClr val="061F29"/>
                </a:solidFill>
              </a:rPr>
              <a:t>Define ownership</a:t>
            </a:r>
          </a:p>
          <a:p xmlns:a="http://schemas.openxmlformats.org/drawingml/2006/main">
            <a:pPr>
              <a:defRPr sz="4350" b="1">
                <a:solidFill>
                  <a:srgbClr val="061F29"/>
                </a:solidFill>
              </a:defRPr>
            </a:pPr>
            <a:r>
              <a:rPr sz="4350" b="1">
                <a:solidFill>
                  <a:srgbClr val="061F29"/>
                </a:solidFill>
              </a:rPr>
              <a:t>before calculating.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40724f33ac4c25"/>
          <a:srcRect xmlns:a="http://schemas.openxmlformats.org/drawingml/2006/main" l="23821" t="0" r="238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295650"/>
            <a:ext cx="5429250" cy="7200900"/>
          </a:xfrm>
          <a:prstGeom xmlns:a="http://schemas.openxmlformats.org/drawingml/2006/main" prst="roundRect">
            <a:avLst>
              <a:gd name="adj" fmla="val 280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9C159-D510-4E9B-8952-86B9F685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95650"/>
            <a:ext cx="318135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0530C-077B-4D14-99CF-B7FF9D15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433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A8B80"/>
                </a:solidFill>
              </a:defRPr>
            </a:pPr>
            <a:r>
              <a:rPr sz="1275" b="1">
                <a:solidFill>
                  <a:srgbClr val="0A8B80"/>
                </a:solidFill>
              </a:rPr>
              <a:t>COMMERCE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2D69E-9375-4B83-94E5-B78D6AF9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81450"/>
            <a:ext cx="2609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F39"/>
                </a:solidFill>
              </a:defRPr>
            </a:pPr>
            <a:r>
              <a:rPr sz="1650" b="1">
                <a:solidFill>
                  <a:srgbClr val="102F39"/>
                </a:solidFill>
              </a:rPr>
              <a:t>Completed orders, revenue, refunds and cost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A8C48-B492-47B7-8D0D-7760C7A7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57800"/>
            <a:ext cx="318135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919F7-99BA-417A-B47C-6DFA7B72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054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A8B80"/>
                </a:solidFill>
              </a:defRPr>
            </a:pPr>
            <a:r>
              <a:rPr sz="1275" b="1">
                <a:solidFill>
                  <a:srgbClr val="0A8B80"/>
                </a:solidFill>
              </a:rPr>
              <a:t>GA4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28775-703F-4D75-9D4E-2271705F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43600"/>
            <a:ext cx="2609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F39"/>
                </a:solidFill>
              </a:defRPr>
            </a:pPr>
            <a:r>
              <a:rPr sz="1650" b="0">
                <a:solidFill>
                  <a:srgbClr val="102F39"/>
                </a:solidFill>
              </a:rPr>
              <a:t>Sessions, funnel behavior and tracked purchases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13911A-8C0E-4A88-8199-A9D6ED8B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7219950"/>
            <a:ext cx="318135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49DB0-4F8C-4771-921D-CC9F1662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4676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A8B80"/>
                </a:solidFill>
              </a:defRPr>
            </a:pPr>
            <a:r>
              <a:rPr sz="1275" b="1">
                <a:solidFill>
                  <a:srgbClr val="0A8B80"/>
                </a:solidFill>
              </a:rPr>
              <a:t>DIAGNOSTIC SOURCES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CC6A57-FBE0-420A-812A-FCACF1BE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905750"/>
            <a:ext cx="2609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F39"/>
                </a:solidFill>
              </a:defRPr>
            </a:pPr>
            <a:r>
              <a:rPr sz="1650" b="0">
                <a:solidFill>
                  <a:srgbClr val="102F39"/>
                </a:solidFill>
              </a:rPr>
              <a:t>Ads, search, merchant health and Clarity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AA095-C279-48DC-AB43-842388CE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9363075"/>
            <a:ext cx="3181350" cy="1133475"/>
          </a:xfrm>
          <a:prstGeom xmlns:a="http://schemas.openxmlformats.org/drawingml/2006/main" prst="roundRect">
            <a:avLst>
              <a:gd name="adj" fmla="val 13445"/>
            </a:avLst>
          </a:prstGeom>
          <a:solidFill xmlns:a="http://schemas.openxmlformats.org/drawingml/2006/main">
            <a:srgbClr val="061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37BA6B-6F4C-43BA-B6A5-8B6F63F1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572625"/>
            <a:ext cx="2686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The dashboard shows variance and uncertainty - it does not hide them.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016B02-A5B5-47E3-BB04-C21FD411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01375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F39"/>
                </a:solidFill>
              </a:defRPr>
            </a:pPr>
            <a:r>
              <a:rPr sz="2100" b="1">
                <a:solidFill>
                  <a:srgbClr val="102F39"/>
                </a:solidFill>
              </a:rPr>
              <a:t>One business. Distinct measurement responsibilities.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AA32CA-713D-4855-8C2D-3D9F00ED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68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D747B"/>
                </a:solidFill>
              </a:defRPr>
            </a:pPr>
            <a:r>
              <a:rPr sz="975" b="1">
                <a:solidFill>
                  <a:srgbClr val="5D747B"/>
                </a:solidFill>
              </a:rPr>
              <a:t>PRIMEORDER COMMERCE INTELLIGENCE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D94A0D-0BC8-48A3-878E-7023F810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22682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D747B"/>
                </a:solidFill>
              </a:defRPr>
            </a:pPr>
            <a:r>
              <a:rPr sz="975" b="1">
                <a:solidFill>
                  <a:srgbClr val="5D747B"/>
                </a:solidFill>
              </a:rPr>
              <a:t>OMAR BA JAMEL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55AEF7-BA26-42C1-849F-9AA88806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222057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8B80"/>
                </a:solidFill>
              </a:defRPr>
            </a:pPr>
            <a:r>
              <a:rPr sz="1350" b="1">
                <a:solidFill>
                  <a:srgbClr val="0A8B8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968093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F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88571A-FD89-4CD8-81EE-455908FA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305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B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C8EE9-B8DD-490E-85E0-30C675F9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953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02 | BEHAVIOR TO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A4826-9DC5-4C12-B3BC-D9343C83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57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Connect event quality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to product decisions.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3e11f3f6a74472"/>
          <a:srcRect xmlns:a="http://schemas.openxmlformats.org/drawingml/2006/main" l="0" t="7169" r="0" b="71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333750"/>
            <a:ext cx="5572125" cy="3314700"/>
          </a:xfrm>
          <a:prstGeom xmlns:a="http://schemas.openxmlformats.org/drawingml/2006/main" prst="roundRect">
            <a:avLst>
              <a:gd name="adj" fmla="val 4598"/>
            </a:avLst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e93f83479b4df7"/>
          <a:srcRect xmlns:a="http://schemas.openxmlformats.org/drawingml/2006/main" l="0" t="7169" r="0" b="71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953250"/>
            <a:ext cx="5572125" cy="3314700"/>
          </a:xfrm>
          <a:prstGeom xmlns:a="http://schemas.openxmlformats.org/drawingml/2006/main" prst="roundRect">
            <a:avLst>
              <a:gd name="adj" fmla="val 459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A47CE-4396-42E0-BC93-6B28CB5E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3375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C303B"/>
          </a:solidFill>
          <a:ln xmlns:a="http://schemas.openxmlformats.org/drawingml/2006/main" w="9525">
            <a:solidFill>
              <a:srgbClr val="1A4A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652F6-C158-44A1-BA49-50A2D92C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433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FE1D8"/>
                </a:solidFill>
              </a:defRPr>
            </a:pPr>
            <a:r>
              <a:rPr sz="2550" b="1">
                <a:solidFill>
                  <a:srgbClr val="7FE1D8"/>
                </a:solidFill>
              </a:rPr>
              <a:t>365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6D801-CC4F-451A-A20C-71FADA39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576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days of deterministic synthetic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E1EF9-2A5B-43BA-B394-75E446E1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5775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C303B"/>
          </a:solidFill>
          <a:ln xmlns:a="http://schemas.openxmlformats.org/drawingml/2006/main" w="9525">
            <a:solidFill>
              <a:srgbClr val="1A4A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7CC92-7506-49CE-BD68-AAF9DF97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673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FE1D8"/>
                </a:solidFill>
              </a:defRPr>
            </a:pPr>
            <a:r>
              <a:rPr sz="2550" b="1">
                <a:solidFill>
                  <a:srgbClr val="7FE1D8"/>
                </a:solidFill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80411-37C2-496C-97E8-F88699C8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5816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specified ecommerce events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41946A-75F8-4B73-A394-6540B473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38175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C303B"/>
          </a:solidFill>
          <a:ln xmlns:a="http://schemas.openxmlformats.org/drawingml/2006/main" w="9525">
            <a:solidFill>
              <a:srgbClr val="1A4A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ABB25-D604-4E61-A530-2AEF2247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65913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FE1D8"/>
                </a:solidFill>
              </a:defRPr>
            </a:pPr>
            <a:r>
              <a:rPr sz="2550" b="1">
                <a:solidFill>
                  <a:srgbClr val="7FE1D8"/>
                </a:solidFill>
              </a:rPr>
              <a:t>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84E1BB-2CEB-4188-BDBD-4E3CBA7E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71056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products with category reconciliation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558069-0207-4353-881C-E7F6DA39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8096250"/>
            <a:ext cx="3048000" cy="217170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0A8B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D9219-13FD-4DFD-98C2-FC4DBEA8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8401050"/>
            <a:ext cx="252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Reproducible by design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8CA26-6C22-4F50-BA44-C0F803F2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9048750"/>
            <a:ext cx="2524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Fixed seed 20250301 keeps analysis, tests and screenshots aligned across the public release.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4C9620-CE32-45CA-BA49-444561DC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06125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E1D8"/>
                </a:solidFill>
              </a:defRPr>
            </a:pPr>
            <a:r>
              <a:rPr sz="2100" b="1">
                <a:solidFill>
                  <a:srgbClr val="7FE1D8"/>
                </a:solidFill>
              </a:rPr>
              <a:t>Funnel evidence only becomes useful when its tracking contract is testable.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5F9F46-B6B7-4FD1-9589-0D1B0756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68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8C0C5"/>
                </a:solidFill>
              </a:defRPr>
            </a:pPr>
            <a:r>
              <a:rPr sz="975" b="1">
                <a:solidFill>
                  <a:srgbClr val="A8C0C5"/>
                </a:solidFill>
              </a:rPr>
              <a:t>PRIMEORDER COMMERCE INTELLIGENCE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E344AE-F7EF-4066-9C5C-B04111C0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22682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8C0C5"/>
                </a:solidFill>
              </a:defRPr>
            </a:pPr>
            <a:r>
              <a:rPr sz="975" b="1">
                <a:solidFill>
                  <a:srgbClr val="A8C0C5"/>
                </a:solidFill>
              </a:rPr>
              <a:t>OMAR BA JAMEL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1245EF-5E37-4121-9AEB-EE186348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222057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E1D8"/>
                </a:solidFill>
              </a:defRPr>
            </a:pPr>
            <a:r>
              <a:rPr sz="1350" b="1">
                <a:solidFill>
                  <a:srgbClr val="7FE1D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432643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EAD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C83819-C1F1-4ADE-B456-F434FF17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305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1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7FBA9-B5A8-4D9D-9C62-5B316E36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953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03 | QUALITY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E9CCF-0B20-495E-8A2D-8F06F90C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61F29"/>
                </a:solidFill>
              </a:defRPr>
            </a:pPr>
            <a:r>
              <a:rPr sz="4350" b="1">
                <a:solidFill>
                  <a:srgbClr val="061F29"/>
                </a:solidFill>
              </a:rPr>
              <a:t>Make uncertainty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B53F1-D1D4-464D-A371-59804AEC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D747B"/>
                </a:solidFill>
              </a:defRPr>
            </a:pPr>
            <a:r>
              <a:rPr sz="1950" b="0">
                <a:solidFill>
                  <a:srgbClr val="5D747B"/>
                </a:solidFill>
              </a:rPr>
              <a:t>Quality, reconciliation and consent are part of the product - not appendix work.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d2818269b24f0a"/>
          <a:srcRect xmlns:a="http://schemas.openxmlformats.org/drawingml/2006/main" l="0" t="13846" r="0" b="138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333750"/>
            <a:ext cx="8915400" cy="4476750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59E55-DC41-48A1-8C7D-0093C99D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34375"/>
            <a:ext cx="17716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61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8C571-7824-4E96-9A94-475C7859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62012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6 READ-ONLY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CONNECTORS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D55567-C20D-4668-A58E-53289AE0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8686800"/>
            <a:ext cx="4953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A8B80"/>
          </a:solidFill>
          <a:ln xmlns:a="http://schemas.openxmlformats.org/drawingml/2006/main" w="0">
            <a:solidFill>
              <a:srgbClr val="0A8B8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7E1007-068F-43D7-B016-EE4A6BAC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8334375"/>
            <a:ext cx="17716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A8B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15EADE-B5B1-4EB3-9220-93533E98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862012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DUCKDB + DBT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SEMANTICS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EF68E-48FB-45A5-8017-E4DB5BC7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8686800"/>
            <a:ext cx="4953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A8B80"/>
          </a:solidFill>
          <a:ln xmlns:a="http://schemas.openxmlformats.org/drawingml/2006/main" w="0">
            <a:solidFill>
              <a:srgbClr val="0A8B8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F6EC1-C17A-4D64-813E-15ADC3CE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8334375"/>
            <a:ext cx="17716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61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2E3B06-77BD-45A0-848B-515FEE81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862012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FASTAPI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READ-ONLY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541E41-B860-4409-9D90-B0C27641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8686800"/>
            <a:ext cx="4953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A8B80"/>
          </a:solidFill>
          <a:ln xmlns:a="http://schemas.openxmlformats.org/drawingml/2006/main" w="0">
            <a:solidFill>
              <a:srgbClr val="0A8B8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C23D36-7B59-4368-9CBC-3DA5A10C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8334375"/>
            <a:ext cx="17716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61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3FAE8F-1B95-4502-94C9-0EA65736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862012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STATIC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9DBFEF-E8E1-4563-9969-D21AD3B8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86950"/>
            <a:ext cx="26860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E05ACD-71E4-4D58-9A0D-C9EF9E2F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0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A8B80"/>
                </a:solidFill>
              </a:defRPr>
            </a:pPr>
            <a:r>
              <a:rPr sz="2550" b="1">
                <a:solidFill>
                  <a:srgbClr val="0A8B80"/>
                </a:solidFill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0BC190-2C01-4782-B983-3F902C51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6108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F39"/>
                </a:solidFill>
              </a:defRPr>
            </a:pPr>
            <a:r>
              <a:rPr sz="1200" b="0">
                <a:solidFill>
                  <a:srgbClr val="102F39"/>
                </a:solidFill>
              </a:rPr>
              <a:t>intentional anomaly classes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CAE22A-4EB6-4B34-9C4C-3FFF8BEA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9886950"/>
            <a:ext cx="26860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A61E19-7E61-4984-8052-BCA8154D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0096500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A8B80"/>
                </a:solidFill>
              </a:defRPr>
            </a:pPr>
            <a:r>
              <a:rPr sz="2550" b="1">
                <a:solidFill>
                  <a:srgbClr val="0A8B80"/>
                </a:solidFill>
              </a:rPr>
              <a:t>28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6DB19E-1687-4D54-A9F6-D59C7351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06108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F39"/>
                </a:solidFill>
              </a:defRPr>
            </a:pPr>
            <a:r>
              <a:rPr sz="1200" b="0">
                <a:solidFill>
                  <a:srgbClr val="102F39"/>
                </a:solidFill>
              </a:rPr>
              <a:t>dbt models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5F8A0A-9279-4ABF-903F-F25027A8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9886950"/>
            <a:ext cx="29527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F82783-5236-4E9D-AD14-21D8ACD4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009650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A8B80"/>
                </a:solidFill>
              </a:defRPr>
            </a:pPr>
            <a:r>
              <a:rPr sz="2550" b="1">
                <a:solidFill>
                  <a:srgbClr val="0A8B80"/>
                </a:solidFill>
              </a:rPr>
              <a:t>78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F50223-1EC3-4555-B9CF-0076B396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0610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F39"/>
                </a:solidFill>
              </a:defRPr>
            </a:pPr>
            <a:r>
              <a:rPr sz="1200" b="0">
                <a:solidFill>
                  <a:srgbClr val="102F39"/>
                </a:solidFill>
              </a:rPr>
              <a:t>data tests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BA4ED6-F594-4F5F-B4FD-98B8B166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68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D747B"/>
                </a:solidFill>
              </a:defRPr>
            </a:pPr>
            <a:r>
              <a:rPr sz="975" b="1">
                <a:solidFill>
                  <a:srgbClr val="5D747B"/>
                </a:solidFill>
              </a:rPr>
              <a:t>PRIMEORDER COMMERCE INTELLIGENCE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C0C8CF-D39A-4F5E-9F8E-0C5EBCFF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22682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D747B"/>
                </a:solidFill>
              </a:defRPr>
            </a:pPr>
            <a:r>
              <a:rPr sz="975" b="1">
                <a:solidFill>
                  <a:srgbClr val="5D747B"/>
                </a:solidFill>
              </a:rPr>
              <a:t>OMAR BA JAMEL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46D25C-D15C-49F2-ABF8-F1D7040C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222057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8B80"/>
                </a:solidFill>
              </a:defRPr>
            </a:pPr>
            <a:r>
              <a:rPr sz="1350" b="1">
                <a:solidFill>
                  <a:srgbClr val="0A8B8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32094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F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18AAEE-18F0-40B2-9BE3-5AD6A8C5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305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B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47C48-38CD-48DD-9E6C-6857D723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953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04 | RELEASE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AC964-0F42-4CBB-904D-60747305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1915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Ship evidence,</a:t>
            </a:r>
          </a:p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not uplift claims.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2AC3D-2114-468A-9EB5-36A4B7D5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FD1D5"/>
                </a:solidFill>
              </a:defRPr>
            </a:pPr>
            <a:r>
              <a:rPr sz="1875" b="0">
                <a:solidFill>
                  <a:srgbClr val="BFD1D5"/>
                </a:solidFill>
              </a:rPr>
              <a:t>Every headline below was executed against the release candidate.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6700A-31C8-4BFF-92E4-8919B578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4191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C303B"/>
          </a:solidFill>
          <a:ln xmlns:a="http://schemas.openxmlformats.org/drawingml/2006/main" w="9525">
            <a:solidFill>
              <a:srgbClr val="1A4A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EAFA3-05CD-47B3-8E13-58178E4E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57675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FE1D8"/>
                </a:solidFill>
              </a:defRPr>
            </a:pPr>
            <a:r>
              <a:rPr sz="2550" b="1">
                <a:solidFill>
                  <a:srgbClr val="7FE1D8"/>
                </a:solidFill>
              </a:rPr>
              <a:t>117/117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272BC-326E-4652-94A8-48AFD17B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2025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dbt nodes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A2EAC-A316-49DE-81A2-891E37CE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48125"/>
            <a:ext cx="4191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C303B"/>
          </a:solidFill>
          <a:ln xmlns:a="http://schemas.openxmlformats.org/drawingml/2006/main" w="9525">
            <a:solidFill>
              <a:srgbClr val="1A4A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A65CA-9F54-4F45-BD84-3BA0AC7A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57675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FE1D8"/>
                </a:solidFill>
              </a:defRPr>
            </a:pPr>
            <a:r>
              <a:rPr sz="2550" b="1">
                <a:solidFill>
                  <a:srgbClr val="7FE1D8"/>
                </a:solidFill>
              </a:rPr>
              <a:t>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70716-1312-49A5-B12F-AA1CBC3A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72025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Python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9229A8-876C-4335-8AC2-09D8F68A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4191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C303B"/>
          </a:solidFill>
          <a:ln xmlns:a="http://schemas.openxmlformats.org/drawingml/2006/main" w="9525">
            <a:solidFill>
              <a:srgbClr val="1A4A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6BE5B0-810F-4122-8706-774C7FD7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81675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FE1D8"/>
                </a:solidFill>
              </a:defRPr>
            </a:pPr>
            <a:r>
              <a:rPr sz="2550" b="1">
                <a:solidFill>
                  <a:srgbClr val="7FE1D8"/>
                </a:solidFill>
              </a:rPr>
              <a:t>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0127E-226A-48B5-8601-0B57DF89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96025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frontend 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A6130-02EA-44D6-B38C-BBCE917E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572125"/>
            <a:ext cx="4191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C303B"/>
          </a:solidFill>
          <a:ln xmlns:a="http://schemas.openxmlformats.org/drawingml/2006/main" w="9525">
            <a:solidFill>
              <a:srgbClr val="1A4A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07D6E1-B8C8-4024-B87F-734DB626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781675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FE1D8"/>
                </a:solidFill>
              </a:defRPr>
            </a:pPr>
            <a:r>
              <a:rPr sz="2550" b="1">
                <a:solidFill>
                  <a:srgbClr val="7FE1D8"/>
                </a:solidFill>
              </a:rPr>
              <a:t>17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BD4CC-A229-4D80-9344-35CB3FBE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296025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browser + a11y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A2A3FE-CC27-443C-89B8-0A32BF93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96125"/>
            <a:ext cx="4191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C303B"/>
          </a:solidFill>
          <a:ln xmlns:a="http://schemas.openxmlformats.org/drawingml/2006/main" w="9525">
            <a:solidFill>
              <a:srgbClr val="1A4A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67256C-0DD5-49A6-B2CC-18783AE7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05675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FE1D8"/>
                </a:solidFill>
              </a:defRPr>
            </a:pPr>
            <a:r>
              <a:rPr sz="2550" b="1">
                <a:solidFill>
                  <a:srgbClr val="7FE1D8"/>
                </a:solidFill>
              </a:rPr>
              <a:t>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100727-E05F-4790-8ADD-FF7B199C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20025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privacy-reviewed screens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C518F4-C68C-4216-9ED6-8954DC25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7096125"/>
            <a:ext cx="4191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C303B"/>
          </a:solidFill>
          <a:ln xmlns:a="http://schemas.openxmlformats.org/drawingml/2006/main" w="9525">
            <a:solidFill>
              <a:srgbClr val="1A4A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9D1521-F70E-479C-8B15-05D2DC2E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7305675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FE1D8"/>
                </a:solidFill>
              </a:defRPr>
            </a:pPr>
            <a:r>
              <a:rPr sz="2550" b="1">
                <a:solidFill>
                  <a:srgbClr val="7FE1D8"/>
                </a:solidFill>
              </a:rPr>
              <a:t>85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1E42E2-C8FC-4C30-9C12-1850AE6F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7820025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desktop performance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99E4A4-A733-45E6-ADC5-F5216E73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72550"/>
            <a:ext cx="8915400" cy="21336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6E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FA1475-490D-4A65-A1BB-95155682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2964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61F29"/>
                </a:solidFill>
              </a:defRPr>
            </a:pPr>
            <a:r>
              <a:rPr sz="2325" b="1">
                <a:solidFill>
                  <a:srgbClr val="061F29"/>
                </a:solidFill>
              </a:rPr>
              <a:t>Explore the public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1408EA-400D-48BE-8E8D-81F121B0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9155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A8B80"/>
                </a:solidFill>
              </a:defRPr>
            </a:pPr>
            <a:r>
              <a:rPr sz="1200" b="1">
                <a:solidFill>
                  <a:srgbClr val="0A8B80"/>
                </a:solidFill>
              </a:rPr>
              <a:t>Live demo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498428-818F-4941-A20C-D0B98040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989647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F39"/>
                </a:solidFill>
              </a:defRPr>
            </a:pPr>
            <a:r>
              <a:rPr sz="1350" b="0">
                <a:solidFill>
                  <a:srgbClr val="102F39"/>
                </a:solidFill>
              </a:rPr>
              <a:t>omarbajamel.github.io/primeorder-commerce-intelligence/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65ED74-B59A-406D-BFA4-7BB9B79A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3822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A8B80"/>
                </a:solidFill>
              </a:defRPr>
            </a:pPr>
            <a:r>
              <a:rPr sz="1200" b="1">
                <a:solidFill>
                  <a:srgbClr val="0A8B80"/>
                </a:solidFill>
              </a:rPr>
              <a:t>GitHub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86AB19-8C11-4250-BDC4-061B2518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03632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F39"/>
                </a:solidFill>
              </a:defRPr>
            </a:pPr>
            <a:r>
              <a:rPr sz="1350" b="0">
                <a:solidFill>
                  <a:srgbClr val="102F39"/>
                </a:solidFill>
              </a:rPr>
              <a:t>github.com/OmarBajamel/primeorder-commerce-intelligence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95B08B-744D-4C39-891D-5F2A9999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681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FE1D8"/>
                </a:solidFill>
              </a:defRPr>
            </a:pPr>
            <a:r>
              <a:rPr sz="1650" b="1">
                <a:solidFill>
                  <a:srgbClr val="7FE1D8"/>
                </a:solidFill>
              </a:rPr>
              <a:t>Synthetic public data only. No commercial uplift claimed.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290D87-7E59-4074-88A5-E9E100C7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68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8C0C5"/>
                </a:solidFill>
              </a:defRPr>
            </a:pPr>
            <a:r>
              <a:rPr sz="975" b="1">
                <a:solidFill>
                  <a:srgbClr val="A8C0C5"/>
                </a:solidFill>
              </a:rPr>
              <a:t>PRIMEORDER COMMERCE INTELLIGENCE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BA8614-C01A-412F-85FD-F3068E81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22682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8C0C5"/>
                </a:solidFill>
              </a:defRPr>
            </a:pPr>
            <a:r>
              <a:rPr sz="975" b="1">
                <a:solidFill>
                  <a:srgbClr val="A8C0C5"/>
                </a:solidFill>
              </a:rPr>
              <a:t>OMAR BA JAMEL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D87895-867D-4940-9AD3-91CB38E0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222057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E1D8"/>
                </a:solidFill>
              </a:defRPr>
            </a:pPr>
            <a:r>
              <a:rPr sz="1350" b="1">
                <a:solidFill>
                  <a:srgbClr val="7FE1D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621284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2026-08-28T18:31:16.9080000Z</dcterms:created>
  <dcterms:modified xsi:type="dcterms:W3CDTF">2026-08-28T18:31:16.9080000Z</dcterms:modified>
</coreProperties>
</file>